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ITIL 4 Foundation Training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Code: C348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v1.1  ·  21 July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  ·  www.tertiarycourses.com.sg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ITIL 4 certified — IT service management, service operations and continual improvement.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Professional short courses on IT service management, IT infrastructure and IT operations.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Your name and organisation / role.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316224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53896" y="3389376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Your experience with IT service management or IT support (if any).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803648"/>
            <a:ext cx="10634472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876800"/>
            <a:ext cx="9738360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What you want to be able to improve in your service operations after this course.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Learn by doing — try every hands-on lab.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in at the LMS-TMS portal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this course from your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Go to the Courseware tab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Download the Slides (PPT/PDF), Learner Guide and Lesson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Keep them open alongside the labs as you 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9436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Portal:  https://lms-tms.tertiaryinfotech.com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3 Days, 8 hours/day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Days 1–2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Key Concepts of Service Management and the ITIL Guiding Principles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Understand Key Concepts of Service Management (Lab 1)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The Four Dimensions of Service Management and the Service Value System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ITIL Guiding Principles (Lab 2)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The Four Dimensions of Service Management (Lab 3)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The Service Value System (Lab 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3 — ITIL Practices, Capstone Labs and Exam Preparation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5: ITIL Practices (Labs 5–8)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Daily timing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9:30am–6:30pm · 1-hour lunch · tea breaks within training 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Key Concepts of Service Management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Explain the key concepts of service management, including services, value, outcomes, costs, risks, utility and warranty, and the roles of service providers and consumers.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ITIL Guiding Principles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Apply the seven ITIL guiding principles to service management decisions and improvement initiatives in the workplace.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Four Dimensions of Service Management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Describe the four dimensions of service management and evaluate how each dimension affects the delivery of a service.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Service Value System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Explain the ITIL service value system and the six service value chain activities, and apply the continual improvement model.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ITIL Practices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Describe the purpose of the key ITIL practices and apply them to incident, problem, change and service request scenarios.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You'll Learn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Trainer demonstrates the concept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 build it yourself in the hands-on 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 with the lab's 'Test it'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Discuss and troubleshoot together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Recap against the learning outcomes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IT Service Management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IT Service Management?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 service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means of enabling value co-creation by facilitating outcomes customers want, without the customer managing specific costs and risks.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Service management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set of specialised organisational capabilities for enabling value to customers in the form of services.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ITIL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 source of good practice in IT service management — validated across diverse environments and situations.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Value co-creation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Value is not delivered TO the consumer; it is co-created WITH them through an active service relationship.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How the ITIL Service Value System Fits Together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Inputs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Opportunity (options to add value) and demand (the need for services) trigger the SVS activities.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The system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Guiding principles and governance steer the service value chain, supported by the practices and continual improvement.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Output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Value co-created with stakeholders — outcomes enabled, costs and risks removed, continually improved.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Value is co-created, not delivered.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The ITIL SVS describes how every component and activity works together as a system to enable value creation.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Core Distinctions You Must Master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Utility vs Warranty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Utility — what the service DOES; functionality offered to meet a need. Fit for purpose.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Warranty — how the service PERFORMS; availability, capacity, reliability, security, continuity. Fit for use.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service needs BOTH to deliver value.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Output vs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Output — a tangible or intangible deliverable of an activity.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Outcome — a result for a stakeholder, enabled by one or more outputs.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Outputs are what you produce; outcomes are why the consumer cared.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Costs and Risks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 service should REMOVE costs and risks from the consumer.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Consuming a service also IMPOSES costs and risks of its own.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Value is judged on the net effect of both.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THE LEARNING ARC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Every Lab Progresses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Read the BrightDesk Services scenario for the lab.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Work the tables and classifications in your small group.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Justify every classification and mapping you record.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Present your group's findings and defend your conclusions.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03648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6" y="4876800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Cross-check against the ITIL definitions in the Learner Guide.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EA580C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Understand Key Concepts of Service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Services · Value · Outcomes, Costs and Risks · Providers and Consumers · Utility and Warranty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A580C"/>
                </a:solidFill>
                <a:latin typeface="Arial"/>
              </a:rPr>
              <a:t>COURSE COVERAGE 25%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Key Concepts — Understand Key Concepts of Service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service is a means of enabling value co-creation by facilitating outcomes customers want to achieve, without the customer having to manage specific costs and risks.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Service management is a set of specialised organisational capabilities for enabling value to customers in the form of services.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Value is co-created through an active relationship between the service provider and the service consumer.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Service consumers take on the roles of customer, user and sponsor; providers deliver service offerings made up of goods, access to resources and service actions.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Outputs are deliverables of an activity; outcomes are the results a stakeholder actually achieves, enabled by those outputs.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Utility is what the service does (fit for purpose); warranty is how the service performs (fit for use).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Hands-On Labs — Understand Key Concepts of Service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Service Management, Value Co-Creation, Utility and Warranty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Service Management, Value Co-Creation, Utility and Warranty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Work the BrightDesk Employee Digital Workplace scenario: identify the service, provider, consumer and users; separate outputs from outcomes; define utility and warranty; and map the costs and risks the service imposes on and removes from the consumer.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The completed lab worksheet for this activity.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Lab worksheet, ITIL 4 Foundation slides, 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Service Management, Value Co-Creation, Utility and Warranty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Work through labs/lab-01 in your group, completing every step and 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Service Management, Value Co-Creation, Utility and Warranty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group can state the service, its provider, consumer roles and users; separates every output from its outcome; and defends its utility, warranty, cost and risk mappings.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Recap — Understand Key Concepts of Service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4297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4151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Explain services, value co-creation, outputs vs outcomes, costs, risks, utility and warranty (LO1)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ITIL Guiding Principles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Focus on Value · Start Where You Are · Progress Iteratively · Collaborate · Think Holistically · Keep It Simple · Optimize and Automate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C2626"/>
                </a:solidFill>
                <a:latin typeface="Arial"/>
              </a:rPr>
              <a:t>COURSE COVERAGE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ITIL Guiding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guiding principle is a recommendation that guides an organisation in all circumstances, regardless of changes in goals, strategies or type of work.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Focus on value: everything the organisation does should link back, directly or indirectly, to value for itself, its customers and its stakeholders.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Start where you are: assess and reuse what already exists rather than discarding it and rebuilding from scratch.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Progress iteratively with feedback: organise work into smaller manageable sections, executed and completed in a timely manner, using feedback at each iteration.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Collaborate and promote visibility: involve the right people in the right roles to improve buy-in, relevance and the likelihood of long-term success.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Think and work holistically, keep it simple and practical, and optimize before you automate.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ITIL Guiding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Seven Guiding Principles and Decision Scenarios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Seven Guiding Principles and Decision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Apply each of the seven guiding principles to a set of BrightDesk decision scenarios, stating what the principle would have you do — and stop doing — in each case.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The completed lab worksheet for this activity.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Lab worksheet, ITIL 4 Foundation slides, 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Seven Guiding Principles and Decision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Work through labs/lab-02 in your group, completing every step and 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Seven Guiding Principles and Decision Scenarios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group can name all seven guiding principles and, for each decision scenario, justify which principle applies and what it changes in practice.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ITIL Guiding Principles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4297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4151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Apply the seven ITIL guiding principles to service management decisions (LO2)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The Four Dimensions of Service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Organizations and People · Information and Technology · Partners and Suppliers · Value Streams and Processes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COVERAGE 15%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Key Concepts — The Four Dimensions of Service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four dimensions ensure a holistic approach to service management; every component of the SVS must be considered from all four.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Organizations and people covers roles, responsibilities, structures, culture and the competencies needed to deliver the service.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Information and technology covers the information and knowledge required, plus the technologies that support and enable the service.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Partners and suppliers covers relationships with other organisations involved in the design, deployment, delivery and support of services.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Value streams and processes covers how the parts of the organisation work together, in an integrated and coordinated way, to enable value creation.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External factors — political, economic, social, technological, legal and environmental (PESTLE) — constrain and shape all four dimensions.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Hands-On Labs — The Four Dimensions of Service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Four Dimensions of Service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Four Dimensions of Service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Analyse the BrightDesk service across organizations and people, information and technology, partners and suppliers, and value streams and processes; apply PESTLE to the external factors; and identify the weakest dimension.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The completed lab worksheet for this activity.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Lab worksheet, ITIL 4 Foundation slides, 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Four Dimensions of Service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Work through labs/lab-03 in your group, completing every step and 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Four Dimensions of Service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group has findings under all four dimensions, has applied PESTLE to the external factors, and can defend which dimension is the weakest and why.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Recap — The Four Dimensions of Service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4297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4151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Evaluate a service across the four dimensions of service management and PESTLE factors (LO3)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The Service Value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ITIL SVS · Plan · Improve · Engage · Design and Transition · Obtain/Build · Deliver and 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COURSE COVERAGE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The Service Value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ITIL service value system describes how all components and activities of the organisation work together as a system to enable value creation.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SVS comprises guiding principles, governance, the service value chain, practices and continual improvement; its inputs are opportunity and demand.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service value chain is a set of six interconnected activities an organisation performs to deliver a valuable product or service to its consumers.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Plan ensures a shared understanding of vision, status and improvement direction; improve ensures continual improvement of products, services and practices.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Engage provides understanding of stakeholder needs and transparency; design and transition ensures products and services continually meet expectations.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continual improvement model runs from 'What is the vision?' through to 'How do we keep the momentum going?' in seven steps.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The Service Value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Service Value System and Service Value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Service Value System and Service Value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Map the BrightDesk SVS: identify opportunity and demand as inputs, then trace a request through the six value chain activities, listing the inputs and outputs of each.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The completed lab worksheet for this activity.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Lab worksheet, ITIL 4 Foundation slides, 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Service Value System and Service Value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Work through labs/lab-04 in your group, completing every step and 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Service Value System and Service Value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group has traced a request end-to-end through all six value chain activities, with a named input and output for each activity.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The Service Value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34472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42976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9738360" cy="4151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You can now: Explain the ITIL service value system and the six service value chain activities (LO4)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ITIL Practices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Continual Improvement · Change Enablement · Incident · Problem · Service Request · Service Desk · Service Level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COURSE COVERAGE 20%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ITIL Practices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 practice is a set of organisational resources designed for performing work or accomplishing an objective; ITIL 4 defines 34 practices in three groups.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Incident management minimises the negative impact of incidents by restoring normal service operation as quickly as possible.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Problem management reduces the likelihood and impact of incidents by identifying actual and potential causes; a known error is an analysed problem not yet resolved.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Change enablement maximises the number of successful IT changes by ensuring risks are properly assessed and changes authorised by a change authority.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service desk captures demand for incident resolution and service requests, and is the entry point and single point of contact for users.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Service level management sets clear business-based targets for service performance, documented in service level agreements (SLAs).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ITIL Practices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Labs 5–6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Incident, Problem, Service Request, Service Desk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Change Enablement, Release and Deployment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Labs 7–8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Service Level Management, Continual Improvement and Metrics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ITIL Capstone and Exam Readiness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Incident, Problem, Service Request, Service Desk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Triage a morning's BrightDesk contacts: classify each as an incident, problem, known error or service request, justify the classification, and design the handling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The completed lab worksheet for this activity.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Lab worksheet, ITIL 4 Foundation slides, 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Incident, Problem, Service Request, Service Desk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Work through labs/lab-05 in your group, completing every step and 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161B26"/>
                </a:solidFill>
                <a:latin typeface="Arial"/>
              </a:rPr>
              <a:t>Incident, Problem, Service Request, Service Desk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group has classified every contact in the morning's queue as incident, problem, known error or service request, and can justify each handling path.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Change Enablement, Release and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Classify BrightDesk changes as standard, normal or emergency; assign the right change authority; and distinguish deployment from release.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The completed lab worksheet for this activity.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Lab worksheet, ITIL 4 Foundation slides, 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Change Enablement, Release and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Work through labs/lab-06 in your group, completing every step and 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Change Enablement, Release and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group has classified every change as standard, normal or emergency with the right change authority, and can state the difference between release and deployment.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Service Level Management, Continual Improvement and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Write business-based SLA targets for the BrightDesk service, avoid the watermelon SLA, and run the seven-step continual improvement model against a real shortfall.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The completed lab worksheet for this activity.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Lab worksheet, ITIL 4 Foundation slides, 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Service Level Management, Continual Improvement and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Work through labs/lab-07 in your group, completing every step and 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Service Level Management, Continual Improvement and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group has business-based SLA targets (not just technical metrics) and a completed seven-step continual improvement plan for the shortfall.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05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ITIL Capstone and Exam Readiness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Bring the whole course together on the BrightDesk improvement case, then work exam-style questions across all five topics.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The completed lab worksheet for this activity.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Lab worksheet, ITIL 4 Foundation slides, Learner Guide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ITIL Capstone and Exam Readiness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2286000"/>
            <a:ext cx="1280160" cy="128016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505456"/>
            <a:ext cx="12801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STEP 1 OF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194560"/>
            <a:ext cx="92354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0">
                <a:solidFill>
                  <a:srgbClr val="161B26"/>
                </a:solidFill>
                <a:latin typeface="Arial"/>
              </a:rPr>
              <a:t>Work through labs/lab-08 in your group, completing every step and 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ITIL Capstone and Exam Readiness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Your group has completed the BrightDesk improvement case and reviewed its answers to the exam-style questions across all five topics.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ITIL Practices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Apply incident, problem, service request and service desk practices to real contacts (LO5)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Apply change enablement and distinguish change types, change authorities, release and deployment (LO5)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Apply service level management and the continual improvement model to service performance (LO5, LO4)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 can now: Consolidate all five topics and rehearse ITIL 4 Foundation exam-style questions (LO1–LO5)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Key Concepts of Service Management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Explain the key concepts of service management, including services, value, outcomes, costs, risks, utility and warranty, and the roles of service providers and consumers.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ITIL Guiding Principles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Apply the seven ITIL guiding principles to service management decisions and improvement initiatives in the workplace.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Four Dimensions of Service Management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Describe the four dimensions of service management and evaluate how each dimension affects the delivery of a service.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The Service Value System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Explain the ITIL service value system and the six service value chain activities, and apply the continual improvement model.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ITIL Practices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Describe the purpose of the key ITIL practices and apply them to incident, problem, change and service request scenarios.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Preparing for the ITIL 4 Foundation Exam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 official ITIL 4 Foundation exam voucher is included with this course — book your exam while the material is fresh.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316480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334768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Review the key concepts and definitions in each topic of the Learner Guide.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Re-read the seven guiding principles and be able to apply each to a scenario.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3316224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3316224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3803904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3822192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3389376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Memorise the purpose statements of the ITIL practices covered in Topic 5.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03648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60120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53896" y="4876800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Be able to distinguish incident, problem, known error, workaround, service request and change.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6772" y="4803648"/>
            <a:ext cx="5234940" cy="1322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6772" y="4803648"/>
            <a:ext cx="64008" cy="1322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359652" y="529132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9652" y="5309616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3428" y="4876800"/>
            <a:ext cx="4338828" cy="11765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Attempt the practice exam and review every explanation: https://exams.tertiaryinfotech.com/practice-exams/axelos/axelos-itil4-foundation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38912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92708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Keep Practising After the Course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4592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3896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Re-run the labs on your own machine — repetition is what makes the skills stick.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6772" y="1828800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6772" y="1828800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59652" y="2688336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9652" y="2706624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3428" y="1901952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Apply the techniques to a real process or project in your own organisation.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60120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53896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Your course material stays available at https://lms-tms.tertiaryinfotech.com/.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4059936"/>
            <a:ext cx="5234940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6772" y="4059936"/>
            <a:ext cx="64008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359652" y="4919472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9652" y="4937760"/>
            <a:ext cx="347472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3428" y="4133088"/>
            <a:ext cx="433882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Explore the follow-on courses at www.tertiarycourses.com.sg.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SERVICE MANAGEMENT 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are now ready to apply ITIL 4 service management practices in your organisation — and to sit the ITIL 4 Foundation exam with your included voucher.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ITIL 4 Foundation Training  ·  C348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